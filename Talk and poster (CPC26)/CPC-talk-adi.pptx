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0D_CE975E1E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63" r:id="rId3"/>
  </p:sldMasterIdLst>
  <p:notesMasterIdLst>
    <p:notesMasterId r:id="rId18"/>
  </p:notesMasterIdLst>
  <p:sldIdLst>
    <p:sldId id="269" r:id="rId4"/>
    <p:sldId id="257" r:id="rId5"/>
    <p:sldId id="272" r:id="rId6"/>
    <p:sldId id="273" r:id="rId7"/>
    <p:sldId id="274" r:id="rId8"/>
    <p:sldId id="275" r:id="rId9"/>
    <p:sldId id="276" r:id="rId10"/>
    <p:sldId id="278" r:id="rId11"/>
    <p:sldId id="264" r:id="rId12"/>
    <p:sldId id="280" r:id="rId13"/>
    <p:sldId id="271" r:id="rId14"/>
    <p:sldId id="291" r:id="rId15"/>
    <p:sldId id="289" r:id="rId16"/>
    <p:sldId id="270" r:id="rId1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8199F4-3DE7-E11E-4BCA-1254CF7A9AE3}" name="adi pizanti" initials="ap" userId="a2edabf1cd22a3d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7F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903" autoAdjust="0"/>
  </p:normalViewPr>
  <p:slideViewPr>
    <p:cSldViewPr snapToGrid="0">
      <p:cViewPr varScale="1">
        <p:scale>
          <a:sx n="85" d="100"/>
          <a:sy n="85" d="100"/>
        </p:scale>
        <p:origin x="14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omments/modernComment_10D_CE975E1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CF4BCE-127A-40FD-9D4F-FE666B6F16CD}" authorId="{B98199F4-3DE7-E11E-4BCA-1254CF7A9AE3}" status="resolved" created="2026-06-13T16:18:04.867" complete="100000">
    <pc:sldMkLst xmlns:pc="http://schemas.microsoft.com/office/powerpoint/2013/main/command">
      <pc:docMk/>
      <pc:sldMk cId="3466026526" sldId="264"/>
    </pc:sldMkLst>
    <p188:txBody>
      <a:bodyPr/>
      <a:lstStyle/>
      <a:p>
        <a:r>
          <a:rPr lang="LID4096"/>
          <a:t>opening</a:t>
        </a:r>
      </a:p>
    </p188:txBody>
  </p188:cm>
  <p188:cm id="{1197B53A-C1E2-4C92-9D0A-BB2694525C21}" authorId="{B98199F4-3DE7-E11E-4BCA-1254CF7A9AE3}" status="resolved" created="2026-06-13T16:28:51.069" complete="100000">
    <pc:sldMkLst xmlns:pc="http://schemas.microsoft.com/office/powerpoint/2013/main/command">
      <pc:docMk/>
      <pc:sldMk cId="3466026526" sldId="264"/>
    </pc:sldMkLst>
    <p188:txBody>
      <a:bodyPr/>
      <a:lstStyle/>
      <a:p>
        <a:r>
          <a:rPr lang="LID4096"/>
          <a:t>I can pottentially add a background of MB, MF and computational psychiatry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5AF0D-2BA0-42BE-9857-DF78398DAF4B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43B5B-E836-4DE7-A666-2A43DB8DD1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173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5025-155F-DF28-E17A-11239B8A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D142E-33FC-56D1-8F19-EAD9641C4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5C8AF-5F22-AC4E-6B36-2024BE46A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 everyone, I’m Adi, a first year MA student from bar </a:t>
            </a:r>
            <a:r>
              <a:rPr lang="en-US" dirty="0" err="1"/>
              <a:t>ilan</a:t>
            </a:r>
            <a:r>
              <a:rPr lang="en-US" dirty="0"/>
              <a:t> university doing research under sharp’s lab with  </a:t>
            </a:r>
          </a:p>
          <a:p>
            <a:r>
              <a:rPr lang="en-US" dirty="0"/>
              <a:t>I’m very excited to be here today and present my work on worry  </a:t>
            </a:r>
            <a:br>
              <a:rPr lang="en-US" dirty="0"/>
            </a:br>
            <a:endParaRPr lang="en-US" dirty="0"/>
          </a:p>
          <a:p>
            <a:r>
              <a:rPr lang="en-US" dirty="0"/>
              <a:t>~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1E4B8-F98A-2F85-6B1C-9DDEF89C5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86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Last night I was lying in bed, thinking about this moment. At first it went fine — the slides flow, the talk is clear. But then I started thinking about everything that could go wrong. I'd done everything I could to prepare, yet I kept returning to the same thoughts, over and over. In other words, I got worried.</a:t>
            </a:r>
          </a:p>
          <a:p>
            <a:endParaRPr lang="" dirty="0"/>
          </a:p>
          <a:p>
            <a:r>
              <a:rPr lang="" dirty="0"/>
              <a:t>Clinicians can tell that from a certain point, this kind of thinking is inefficient — we doubt our own conclusions and never reach an answer. But from the patient’s side, it feels like planning: thinking hard about the future, trying to prepare. If </a:t>
            </a:r>
          </a:p>
          <a:p>
            <a:endParaRPr lang="" dirty="0"/>
          </a:p>
          <a:p>
            <a:r>
              <a:rPr lang="" dirty="0"/>
              <a:t>that's true, we'd expect planning to change in some way with worry. And yet computational work has found no reliable relationship between worry and model-based planning.</a:t>
            </a:r>
          </a:p>
          <a:p>
            <a:endParaRPr lang="" dirty="0"/>
          </a:p>
          <a:p>
            <a:r>
              <a:rPr lang="" dirty="0"/>
              <a:t>We think part of the reason is how tasks in the field treat time. Previous approaches either ignore the time it takes to think — and its role in the decision itself — or use tasks so fast that variation in thinking time barely matters. So we set out to test whether planning differs in people who worry, using a paradigm that treats deliberation time as a direct window into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43B5B-E836-4DE7-A666-2A43DB8DD19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6612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used a </a:t>
            </a:r>
            <a:r>
              <a:rPr lang="" dirty="0"/>
              <a:t>retrospective revaluation task</a:t>
            </a:r>
            <a:endParaRPr lang="he-I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" dirty="0"/>
              <a:t>First, people learn the map, which path leads where. The feather takes you one way, the triangle another.</a:t>
            </a:r>
          </a:p>
          <a:p>
            <a:pPr algn="l" rtl="0"/>
            <a:endParaRPr lang="he-IL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43B5B-E836-4DE7-A666-2A43DB8DD19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7287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Then they learn the rewards: the feather is a good option, gives you 5 points. triangle is a bad option, worth −5 points.  Even though trials included the whole path, </a:t>
            </a:r>
            <a:r>
              <a:rPr lang="en-US" dirty="0"/>
              <a:t>a</a:t>
            </a:r>
            <a:r>
              <a:rPr lang="" dirty="0"/>
              <a:t>ny of the final states has no values at this point</a:t>
            </a:r>
          </a:p>
          <a:p>
            <a:r>
              <a:rPr lang="en-US" dirty="0"/>
              <a:t>S</a:t>
            </a:r>
            <a:r>
              <a:rPr lang="" dirty="0"/>
              <a:t>o participants develop a preffered path based on the middle states only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43B5B-E836-4DE7-A666-2A43DB8DD19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5472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Now the planning part. We change the values at the end of the paths. without letting participants activley moving through the environment anymore.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</a:t>
            </a:r>
            <a:r>
              <a:rPr lang="" dirty="0"/>
              <a:t>or the sake of time we will focus in the triangle path from now</a:t>
            </a:r>
            <a:endParaRPr lang="he-IL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43B5B-E836-4DE7-A666-2A43DB8DD19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8246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In oreder to reevaluate paticipants had to succesfuly update their internal map wit the new values. </a:t>
            </a:r>
            <a:br>
              <a:rPr lang="" dirty="0"/>
            </a:br>
            <a:r>
              <a:rPr lang="en-US" dirty="0"/>
              <a:t>P</a:t>
            </a:r>
            <a:r>
              <a:rPr lang="" dirty="0"/>
              <a:t>articipant succesfuly updating map values are now seeing the triangle as a much better path than in was a moment before.</a:t>
            </a:r>
          </a:p>
          <a:p>
            <a:r>
              <a:rPr lang="" dirty="0"/>
              <a:t>Participant who stick to the actual experience with the map will not update triangle’s value accroding to new values presented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43B5B-E836-4DE7-A666-2A43DB8DD19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3469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</a:t>
            </a:r>
            <a:r>
              <a:rPr lang="" dirty="0"/>
              <a:t>o after revealing those end states values participants are given a variety of binary choices like the one you see on the screen.</a:t>
            </a:r>
          </a:p>
          <a:p>
            <a:pPr>
              <a:buNone/>
            </a:pPr>
            <a:r>
              <a:rPr lang="" dirty="0"/>
              <a:t>would you rather go through the triangle, or take +7 for sure?</a:t>
            </a:r>
          </a:p>
          <a:p>
            <a:r>
              <a:rPr lang="en-US" dirty="0"/>
              <a:t>Participant’s choices enables us to split our sample to MB and non-MB learners.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43B5B-E836-4DE7-A666-2A43DB8DD19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429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4AD4-879B-293A-20E6-D4843C36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3E413-6955-C5FC-27E8-03DBC3FF9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34FA2-B244-CFEF-5438-F7574E255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" dirty="0"/>
              <a:t>Half of our sample was MB, and we verified this in two ways.</a:t>
            </a:r>
          </a:p>
          <a:p>
            <a:pPr>
              <a:buNone/>
            </a:pPr>
            <a:r>
              <a:rPr lang="" dirty="0"/>
              <a:t>We also varified that MB participants actually deliberate longer</a:t>
            </a:r>
            <a:r>
              <a:rPr lang="en-US" dirty="0"/>
              <a:t>. Which align with the fact that the MB system uses heavier computations that MF</a:t>
            </a:r>
            <a:endParaRPr lang="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484FB-29EB-6D96-9418-406D5B599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143B5B-E836-4DE7-A666-2A43DB8DD19F}" type="slidenum">
              <a:rPr kumimoji="0" lang="LID4096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LID4096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655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6D3E-4A12-B209-5C03-50933A31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E761F-53E4-FB74-C593-850ED46D9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1656C-2B12-F67B-EAA9-8C01226D5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more specifically, among MB participants, worry and deliberation time positively correlate while accuracy stayed the same. This finding is exclusive to MB participants</a:t>
            </a:r>
          </a:p>
          <a:p>
            <a:r>
              <a:rPr lang="en-US" b="0" dirty="0"/>
              <a:t>Meaning that among people who plan, worriers deliberate more but doesn’t get any benefit from it.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D267F-3A0B-3DD1-6F84-D722BA3BB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735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20DB-F38E-5C54-DBF7-FB37624D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5217E-F36E-38A4-228B-5B9C0687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579B2-5E18-F915-B785-0A3A3C700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were then able to operationalize overthinking as an index. demonstrate how overthinking may look like empirically. Represented by time spent deliberating and the rate of getting the optimal choice</a:t>
            </a: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B6A9A-D4A6-8511-6595-3F0F4475AF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891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643CB-2936-75C6-3BDD-E8E1B19D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10BF1-C6BF-0BC2-C8E6-F154CDF12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2A7A4-236D-72BF-B8CE-DB5E15C58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replicated these findings ,and more, in two different independent samples</a:t>
            </a:r>
            <a:endParaRPr lang="he-IL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D5F1C-144C-B073-FF85-9C6C57E97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546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EC12-7D2E-561C-0633-2A1C7551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4B27D-94AC-B272-51D9-477125A0A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04C3B-4120-39D6-0595-B5E3096D3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also decided to use DDM to model participants decisions.</a:t>
            </a:r>
          </a:p>
          <a:p>
            <a:r>
              <a:rPr lang="en-US" dirty="0"/>
              <a:t>But </a:t>
            </a:r>
            <a:r>
              <a:rPr lang="" dirty="0"/>
              <a:t>In the standard model, </a:t>
            </a:r>
            <a:r>
              <a:rPr lang="" i="0" dirty="0"/>
              <a:t>raising the decision boundary </a:t>
            </a:r>
            <a:r>
              <a:rPr lang="" dirty="0"/>
              <a:t>means accumulating more evidence, which always comes with more accuracy while slowing responses.</a:t>
            </a:r>
          </a:p>
          <a:p>
            <a:endParaRPr lang="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391C6-CA87-3178-4A45-08C457397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967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suggested model that compose deliberation time with 3 components: the </a:t>
            </a:r>
            <a:r>
              <a:rPr lang="en-US" dirty="0" err="1"/>
              <a:t>compenent</a:t>
            </a:r>
            <a:r>
              <a:rPr lang="en-US" dirty="0"/>
              <a:t> that makes deliberation time inefficient is </a:t>
            </a:r>
            <a:r>
              <a:rPr lang="en-US" dirty="0" err="1"/>
              <a:t>wha</a:t>
            </a:r>
            <a:r>
              <a:rPr lang="en-US" dirty="0"/>
              <a:t> we call C – checking. The other Two are the model used to revaluate </a:t>
            </a:r>
            <a:r>
              <a:rPr lang="en-US" dirty="0" err="1"/>
              <a:t>catched</a:t>
            </a:r>
            <a:r>
              <a:rPr lang="en-US" dirty="0"/>
              <a:t> values and the other is a mentally orienting to the task objectives.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43B5B-E836-4DE7-A666-2A43DB8DD19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3647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7554-2699-518D-737A-27CEC34B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F2530-4F07-8CED-F752-DCCE4E4EB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B0325-82F7-4FF9-439B-DFA6F1055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I’d love to discuss more about this study</a:t>
            </a:r>
            <a:r>
              <a:rPr lang="en-US" dirty="0"/>
              <a:t>, please come find me today at poster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028F-34FA-E904-3CCB-436E84823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39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560D-C5EA-D026-E00D-95AAA9AE5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91E05-0850-6A2F-A6AD-34EADC3FD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94497-F7BD-B4CD-012C-86036FDB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50D5A-C607-7CF6-3259-416A4138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7BC1-1E1C-C5A0-6944-08A1C8092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1547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CE5C-9B99-AA00-ECBD-00BC7E4A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F331-2DE3-EC43-9B7C-C95E4685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90077-F6E6-063F-8AC3-C38E1A01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B79CE-D633-E3C9-DDF9-E94E627B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B3D91-5B6E-88AD-7B28-A5D1C5DF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174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5714-3C86-719B-0A0E-31D5F964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DC03E-F2DC-50EA-B0D8-F780D25B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652CC-7E93-3005-4319-E81A9A8D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D238-A645-C890-2782-3E39D982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B2329-E49B-6857-8C9B-BA27B6203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550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A801-5A0D-E97B-F696-4390A2CE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105BE-F533-83F5-2D04-99E8B206D4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D0722-570F-A98E-C9B4-4CA2A0D22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1547D-411F-5D1D-756E-B3372A63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D249B-EB8F-34E7-2C01-FB459E87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441DC-64F4-78FE-886F-7AC91C03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2615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8AFA8-EB87-B078-9D39-78C35907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9F43A-674E-9BAB-532B-886C89C27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658EE-138F-1F44-31F6-4309523C4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13EFE3-A5C6-939C-5388-B70B56D81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BFD2E7-BE20-4ED6-9A01-718F7382D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4FFCFD-5BEE-D792-99ED-0B464E8B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E121-A723-6F34-0769-0584C7B6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0F53D6-D343-FD5B-913D-33D0713A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8232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984D-D395-FC20-318D-36368F6D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6C7EE-59D6-6DBF-EDE6-7CEDE106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63D84-17D7-36DC-74E1-DA53E34F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6467A-0170-EF64-C09D-74455D5E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2525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B6DA58-400E-DBD0-06D2-B0D3759D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C2914-CD4F-E249-CAA5-B5CC36C0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F827B-50A2-CD2B-AE00-05D13ABF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6273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F66C-7C44-BC92-F5A6-10ACA204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2980-63DB-B856-329B-D4803746F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09144-39C2-DDFB-1C5A-5CCDA3FBB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43B97-03ED-FC2A-EC04-5153BC38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C7646-2B30-3FF9-B9B0-A90ECB2A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D8BDB-4218-5E2B-D6F5-6F9897B8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376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7DC6-07CA-6ADD-9B75-903F878DF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602ED-105C-3899-E934-DE39D9DE2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39F28-88B7-5C5B-E703-70479D130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DB161-8C90-2684-9519-EBC2825E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E3FE7-8E6A-779C-E0D1-EA16CFF9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80CDB-5A71-8DE3-4897-B981ABA2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482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E3FA-346D-F29F-78A9-F16C81CD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92407-3285-FED5-EC3A-B39E2CD7E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797A-96EF-ECB3-A377-ACAA1929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2050-7165-707D-AA9C-82237D4C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D221E-EF29-015F-477B-2CA0364C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36967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3FAE5-644E-5EB4-6395-5DBB5AB5B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339FA-D7D5-4C9A-3EFE-380EC23C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267E2-45C3-F030-486A-5687E2B2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A982-4C56-1A43-72D4-DFE33C8F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C648C-A0D5-A70E-38DF-E449CDD9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537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772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93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5166-E6FA-2CC7-F03B-DBDAA2F98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7A0D5-19D4-68D2-F708-F24A3B0CD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A8ADE-E90B-E0AC-547D-38D25FFE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BB854-04F2-8A24-3AD4-237D641F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963C2-B216-90A7-229B-B11EAE7F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5339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9528-B61C-5F76-C592-6C2CB06B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26F7F-823A-DE6F-AE5E-CD4C73D28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4B74D-6E21-5C7E-F1ED-F8376E71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157A8-4B84-28AC-C90D-2C306251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6E6FF-BC45-D42F-95A6-5A3004CE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373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CBD5-08C1-9895-AACF-A9FB2D9A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7D365-7A93-427C-0F41-DB5C1394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36ACE-7302-303E-C4FE-7672AF8D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EDC11-CDB6-5182-2558-BBC6572B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046D6-2037-2B71-1316-EC53E04B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2832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E771-5F42-C635-90EE-EFC77DE3E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9B36D-75B3-1626-03E0-3E875FF7B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4215E-6B86-6D6F-937B-8CE714228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403A0-A42C-DF38-A04B-19FAA171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63C9B-D8E1-AEDC-9850-2063BFA6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C81A8-213A-68B1-2225-9CDD28F6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53238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26E2-C7B7-ACCE-FE11-0BD68172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46768-3B3E-8847-A344-B02314B3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B1B3B-1532-D1F9-FA65-324E9A22B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E6B6C-4F04-8BA8-A2B8-FC4C30042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D8945-F069-D1A3-EC18-1381A7982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E0C921-D166-3A0A-321A-DEF07AF6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5A2E8E-367F-F1D5-8FD8-E0FC6659E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F9EB5-23C8-8B0A-2DD4-DCB8A7FF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004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79D3-54D2-35EF-EF19-C58E78C7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0346E-592B-1D76-E5A2-B34180DC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6FB3E-98D3-7789-D3D7-B3CB31B4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FF25D-8B6D-6028-1C78-22885087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95562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BBB65-0A85-F128-F024-6E2C5034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2BCAD-DD80-B7DC-87E5-F862F5F4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FB927-4C7A-FACF-760D-321669C6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1932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5B4A-A9AA-ACB2-7F4A-EB56AAC0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37FE-4F28-8D0B-4597-51172D3B7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7781F-9A3E-697D-A57A-899C8723C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42C0A-A597-6CBC-F3A9-EEF1D8A1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28B13-49B5-5696-CE66-6335286B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1FA5D-9028-978F-5015-4AC70626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5194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E8C1-A004-BC99-6EF9-2FA950B1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D4160-0AE0-02ED-C0B3-80C0BE055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CC9D6-567D-CA39-B7E9-2EBAD35AC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DA470-4DA4-BFDB-3BAE-EE15A0604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A5F38-211B-E7F0-0192-17FB58A73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A84F5-EEFF-19A0-97EF-88538856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9490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B6A6-FA47-86E5-6E0F-F9E5355B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38694-D039-5FDB-79DA-F35DA283C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23FDB-F6FF-42D9-497A-BE7A0161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54531-3DD0-E26C-D370-3697B8D2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47AB9-6A87-A91C-FA22-57749D3E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4900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F812F-FC7A-C8DA-B88A-788EAF9C7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FA209-2971-9F8D-B442-996AD7108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AB213-24F0-7D58-2B6C-27035305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33F96-7F1A-1C04-60DB-B0DBD965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4DEA3-5F52-EFA6-1BE6-5C600741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74153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7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9A312-BABF-481D-3F48-243B4D94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906C-B92A-0AB8-89C9-74DFF1682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3FD1-C1BB-6887-0F1B-3C4C33B5F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04E54-A9FB-49F4-9874-5DD398D1EDE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639D3-A8EC-5C14-6752-DC7E56AFE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B3202-4FD3-83A4-D865-ED5CA8206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DC176-82B4-4FD6-A66A-4F0A19FA354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664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68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021B1A-0037-262F-13B1-617DB4AE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2867-AB8C-E709-2F24-3DC3BBC50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15049-1E52-93D1-A931-6D54B61B2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6119F-33FD-3741-8E92-8AF90FC51BB0}" type="datetimeFigureOut">
              <a:rPr lang="en-IL" smtClean="0"/>
              <a:t>07/08/2026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CB896-4318-33AC-CF59-7521222A4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476AB-0A04-7410-22F8-66E029A3B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F3185-493C-3A4A-B88A-B46943A4EF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873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CE975E1E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316DA-CD40-1D89-C2E7-60848700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90124FC-E185-1564-154A-EAEE67365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937" y="4991283"/>
            <a:ext cx="1721243" cy="1721243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1C5021-C221-1699-41CF-F03F31EEB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0" y="5618747"/>
            <a:ext cx="2700701" cy="1005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554260-466C-B9D9-139C-0FFD1B08BD7C}"/>
              </a:ext>
            </a:extLst>
          </p:cNvPr>
          <p:cNvSpPr txBox="1"/>
          <p:nvPr/>
        </p:nvSpPr>
        <p:spPr>
          <a:xfrm>
            <a:off x="862097" y="1779261"/>
            <a:ext cx="104678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4F1EA"/>
                </a:solidFill>
                <a:latin typeface="Georgia" pitchFamily="34" charset="0"/>
              </a:rPr>
              <a:t>Worry is associated with the overuse of model-based revaluation</a:t>
            </a:r>
            <a:endParaRPr lang="LID4096" sz="4400" b="1" dirty="0">
              <a:solidFill>
                <a:srgbClr val="F4F1EA"/>
              </a:solidFill>
              <a:latin typeface="Georgia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AD85C7F-EE2E-80B0-F766-DF64D32DAC6D}"/>
              </a:ext>
            </a:extLst>
          </p:cNvPr>
          <p:cNvSpPr/>
          <p:nvPr/>
        </p:nvSpPr>
        <p:spPr>
          <a:xfrm>
            <a:off x="1165724" y="3397536"/>
            <a:ext cx="986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4F1EA"/>
                </a:solidFill>
                <a:latin typeface="Georgia" pitchFamily="34" charset="0"/>
              </a:rPr>
              <a:t>The role of overthinking in goal-oriented planning</a:t>
            </a:r>
            <a:endParaRPr lang="en-US" sz="3400" dirty="0"/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251220F3-6639-4B3D-A016-648B9155D7DB}"/>
              </a:ext>
            </a:extLst>
          </p:cNvPr>
          <p:cNvSpPr/>
          <p:nvPr/>
        </p:nvSpPr>
        <p:spPr>
          <a:xfrm>
            <a:off x="3124199" y="3891019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 Pizanti, Paul B. Sharp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466026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2F9C99-DC87-AABC-7860-E5D4AA874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810"/>
          <a:stretch>
            <a:fillRect/>
          </a:stretch>
        </p:blipFill>
        <p:spPr>
          <a:xfrm>
            <a:off x="3354980" y="704114"/>
            <a:ext cx="5482039" cy="5449772"/>
          </a:xfrm>
          <a:prstGeom prst="rect">
            <a:avLst/>
          </a:prstGeom>
          <a:ln>
            <a:noFill/>
          </a:ln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189948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A88A3-05C3-573C-6F15-FE5DBA27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351B27-05CF-2D48-C8CA-2CC9EF586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894" y="1097469"/>
            <a:ext cx="9574211" cy="5604417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63A8994D-1A46-D2F0-2849-3E5E0C90B964}"/>
              </a:ext>
            </a:extLst>
          </p:cNvPr>
          <p:cNvSpPr/>
          <p:nvPr/>
        </p:nvSpPr>
        <p:spPr>
          <a:xfrm>
            <a:off x="4557096" y="186892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</a:rPr>
              <a:t>Structure Learning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8C9A7-61C6-648E-EFB6-D65308FB5690}"/>
              </a:ext>
            </a:extLst>
          </p:cNvPr>
          <p:cNvSpPr txBox="1"/>
          <p:nvPr/>
        </p:nvSpPr>
        <p:spPr>
          <a:xfrm>
            <a:off x="317183" y="6332554"/>
            <a:ext cx="6097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1600" dirty="0">
                <a:solidFill>
                  <a:schemeClr val="bg1"/>
                </a:solidFill>
              </a:rPr>
              <a:t>(Gershman et al., 2014)</a:t>
            </a:r>
            <a:endParaRPr lang="LID4096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13D74C-C688-7425-C991-5AC4BADAEBA0}"/>
              </a:ext>
            </a:extLst>
          </p:cNvPr>
          <p:cNvSpPr txBox="1"/>
          <p:nvPr/>
        </p:nvSpPr>
        <p:spPr>
          <a:xfrm>
            <a:off x="10386920" y="6091313"/>
            <a:ext cx="1487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" sz="1600" dirty="0">
                <a:solidFill>
                  <a:schemeClr val="bg1"/>
                </a:solidFill>
              </a:rPr>
              <a:t>Start</a:t>
            </a:r>
            <a:endParaRPr lang="LID4096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F79D3-AF23-0A73-6E8E-C4F520744A7E}"/>
              </a:ext>
            </a:extLst>
          </p:cNvPr>
          <p:cNvSpPr txBox="1"/>
          <p:nvPr/>
        </p:nvSpPr>
        <p:spPr>
          <a:xfrm>
            <a:off x="10386920" y="1097469"/>
            <a:ext cx="1487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" sz="1600" dirty="0">
                <a:solidFill>
                  <a:schemeClr val="bg1"/>
                </a:solidFill>
              </a:rPr>
              <a:t>End</a:t>
            </a:r>
            <a:endParaRPr lang="LID4096" sz="1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C66FBD-290F-0477-E3D9-8CA5C7B0442A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V="1">
            <a:off x="11130868" y="1436023"/>
            <a:ext cx="0" cy="465529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B26D27-1BC7-942B-E9AA-56C518549101}"/>
              </a:ext>
            </a:extLst>
          </p:cNvPr>
          <p:cNvCxnSpPr>
            <a:cxnSpLocks/>
          </p:cNvCxnSpPr>
          <p:nvPr/>
        </p:nvCxnSpPr>
        <p:spPr>
          <a:xfrm>
            <a:off x="10883105" y="5800214"/>
            <a:ext cx="4897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71E018-6309-22C2-2466-51C699FEB3B1}"/>
              </a:ext>
            </a:extLst>
          </p:cNvPr>
          <p:cNvCxnSpPr>
            <a:cxnSpLocks/>
          </p:cNvCxnSpPr>
          <p:nvPr/>
        </p:nvCxnSpPr>
        <p:spPr>
          <a:xfrm>
            <a:off x="10883105" y="3899677"/>
            <a:ext cx="4897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203A1E-0528-57E5-639F-B566904BDFDF}"/>
              </a:ext>
            </a:extLst>
          </p:cNvPr>
          <p:cNvCxnSpPr>
            <a:cxnSpLocks/>
          </p:cNvCxnSpPr>
          <p:nvPr/>
        </p:nvCxnSpPr>
        <p:spPr>
          <a:xfrm>
            <a:off x="10883105" y="2025569"/>
            <a:ext cx="4897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530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8BC2E-2CB9-BB02-49AD-5E2D72E2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0773FB-4B43-735A-1FF5-0572F3305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46" y="1075705"/>
            <a:ext cx="9747908" cy="5706093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C6D91149-7573-EA82-B574-9F0BAF6E969B}"/>
              </a:ext>
            </a:extLst>
          </p:cNvPr>
          <p:cNvSpPr/>
          <p:nvPr/>
        </p:nvSpPr>
        <p:spPr>
          <a:xfrm>
            <a:off x="4557097" y="459356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</a:rPr>
              <a:t>Value Learning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74645-2DDB-EB9F-89FF-9D1A073DEFEB}"/>
              </a:ext>
            </a:extLst>
          </p:cNvPr>
          <p:cNvSpPr/>
          <p:nvPr/>
        </p:nvSpPr>
        <p:spPr>
          <a:xfrm>
            <a:off x="7903029" y="3973284"/>
            <a:ext cx="446314" cy="283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F4113-1F51-8F68-E639-27C8D93C4F54}"/>
              </a:ext>
            </a:extLst>
          </p:cNvPr>
          <p:cNvSpPr/>
          <p:nvPr/>
        </p:nvSpPr>
        <p:spPr>
          <a:xfrm>
            <a:off x="3871295" y="3973284"/>
            <a:ext cx="446314" cy="2830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6833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62607-1C16-C344-1852-9D9FBC62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F14467-7406-6720-E91B-E996CECD0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96" t="27796" r="8548" b="23816"/>
          <a:stretch>
            <a:fillRect/>
          </a:stretch>
        </p:blipFill>
        <p:spPr>
          <a:xfrm>
            <a:off x="1259017" y="2185861"/>
            <a:ext cx="9673965" cy="2486278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8179FEC1-507A-9691-748B-D71E2E571F0B}"/>
              </a:ext>
            </a:extLst>
          </p:cNvPr>
          <p:cNvSpPr/>
          <p:nvPr/>
        </p:nvSpPr>
        <p:spPr>
          <a:xfrm>
            <a:off x="4557097" y="459356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</a:rPr>
              <a:t>Revaluation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3292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EDD15-D467-7AC9-D853-C9BBF10F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C6A7EC-242D-51A6-0D08-C3D61A3BB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7" t="20000" r="32967" b="9594"/>
          <a:stretch>
            <a:fillRect/>
          </a:stretch>
        </p:blipFill>
        <p:spPr>
          <a:xfrm>
            <a:off x="2" y="372637"/>
            <a:ext cx="4808049" cy="6347158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732EADD7-23A2-9A3E-4899-E44C2DDE7C7F}"/>
              </a:ext>
            </a:extLst>
          </p:cNvPr>
          <p:cNvSpPr/>
          <p:nvPr/>
        </p:nvSpPr>
        <p:spPr>
          <a:xfrm>
            <a:off x="4557097" y="459356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D9AEB-5EB5-5E8A-7D8B-512A11738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6749" r="5423" b="14634"/>
          <a:stretch>
            <a:fillRect/>
          </a:stretch>
        </p:blipFill>
        <p:spPr>
          <a:xfrm>
            <a:off x="902234" y="2052322"/>
            <a:ext cx="2462736" cy="221909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C74B5E-8BF4-C753-876B-55C50673B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7" t="20000" r="32967" b="9594"/>
          <a:stretch>
            <a:fillRect/>
          </a:stretch>
        </p:blipFill>
        <p:spPr>
          <a:xfrm flipH="1">
            <a:off x="7383948" y="372637"/>
            <a:ext cx="4808049" cy="63471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CA164C-7E34-1DA9-3000-B2D86D264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35" t="58537" r="21319" b="18374"/>
          <a:stretch>
            <a:fillRect/>
          </a:stretch>
        </p:blipFill>
        <p:spPr>
          <a:xfrm>
            <a:off x="9266663" y="2473528"/>
            <a:ext cx="1583473" cy="137667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80492499-AA06-FF5E-8D62-822475BCFFDC}"/>
              </a:ext>
            </a:extLst>
          </p:cNvPr>
          <p:cNvSpPr/>
          <p:nvPr/>
        </p:nvSpPr>
        <p:spPr>
          <a:xfrm>
            <a:off x="594699" y="1291980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MB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E89392F-34F6-69E0-4463-85D61311F3EF}"/>
              </a:ext>
            </a:extLst>
          </p:cNvPr>
          <p:cNvSpPr/>
          <p:nvPr/>
        </p:nvSpPr>
        <p:spPr>
          <a:xfrm>
            <a:off x="8519496" y="1291980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MF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4D6C40-A560-168B-6869-35405F82B8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7" t="34472" r="22096" b="42602"/>
          <a:stretch>
            <a:fillRect/>
          </a:stretch>
        </p:blipFill>
        <p:spPr>
          <a:xfrm>
            <a:off x="5554448" y="1838356"/>
            <a:ext cx="1136318" cy="1128316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3C85BC77-40FF-4451-5DB3-9026AB005343}"/>
              </a:ext>
            </a:extLst>
          </p:cNvPr>
          <p:cNvSpPr/>
          <p:nvPr/>
        </p:nvSpPr>
        <p:spPr>
          <a:xfrm>
            <a:off x="4934466" y="2014335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=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83D86A99-C76E-BD49-5EF5-5105ABD6CBF3}"/>
              </a:ext>
            </a:extLst>
          </p:cNvPr>
          <p:cNvSpPr/>
          <p:nvPr/>
        </p:nvSpPr>
        <p:spPr>
          <a:xfrm>
            <a:off x="6485432" y="2014335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=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CD31CEC-C373-68DC-A21E-99C24A9747E7}"/>
              </a:ext>
            </a:extLst>
          </p:cNvPr>
          <p:cNvSpPr/>
          <p:nvPr/>
        </p:nvSpPr>
        <p:spPr>
          <a:xfrm>
            <a:off x="4317302" y="2014335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+15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0DFC7293-67D1-F287-9628-6F64E8D14F01}"/>
              </a:ext>
            </a:extLst>
          </p:cNvPr>
          <p:cNvSpPr/>
          <p:nvPr/>
        </p:nvSpPr>
        <p:spPr>
          <a:xfrm>
            <a:off x="6977915" y="2014335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-5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196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65C5B-54C5-3EA2-D9BD-4CF58664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5">
            <a:extLst>
              <a:ext uri="{FF2B5EF4-FFF2-40B4-BE49-F238E27FC236}">
                <a16:creationId xmlns:a16="http://schemas.microsoft.com/office/drawing/2014/main" id="{75B8BCD9-AF8E-56CA-901F-CA91176DA0A4}"/>
              </a:ext>
            </a:extLst>
          </p:cNvPr>
          <p:cNvSpPr/>
          <p:nvPr/>
        </p:nvSpPr>
        <p:spPr>
          <a:xfrm>
            <a:off x="4557097" y="459356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Query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661095-1EF6-E44C-6062-7A90BE0EB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0" t="26114" r="7814" b="14217"/>
          <a:stretch>
            <a:fillRect/>
          </a:stretch>
        </p:blipFill>
        <p:spPr>
          <a:xfrm>
            <a:off x="2707865" y="1806179"/>
            <a:ext cx="6771304" cy="29759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747506-DA1E-65F8-6EA0-0ADE7CAF4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7" t="20000" r="32967" b="9594"/>
          <a:stretch>
            <a:fillRect/>
          </a:stretch>
        </p:blipFill>
        <p:spPr>
          <a:xfrm>
            <a:off x="390425" y="1953787"/>
            <a:ext cx="2234983" cy="29504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01280B-2570-B531-7FE7-5AA4DC167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7" t="20000" r="32967" b="9594"/>
          <a:stretch>
            <a:fillRect/>
          </a:stretch>
        </p:blipFill>
        <p:spPr>
          <a:xfrm flipH="1">
            <a:off x="9566591" y="1953787"/>
            <a:ext cx="2234984" cy="2950427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CC32705E-C869-1CEB-8E15-9D2042875A18}"/>
              </a:ext>
            </a:extLst>
          </p:cNvPr>
          <p:cNvSpPr/>
          <p:nvPr/>
        </p:nvSpPr>
        <p:spPr>
          <a:xfrm>
            <a:off x="-226471" y="2278610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MB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196FA833-80A0-B125-E68D-4D5E95641379}"/>
              </a:ext>
            </a:extLst>
          </p:cNvPr>
          <p:cNvSpPr/>
          <p:nvPr/>
        </p:nvSpPr>
        <p:spPr>
          <a:xfrm>
            <a:off x="9371016" y="2232719"/>
            <a:ext cx="3077805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MF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922B19-9A04-416F-9C81-3D5D5D9699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7" t="34472" r="22096" b="42602"/>
          <a:stretch>
            <a:fillRect/>
          </a:stretch>
        </p:blipFill>
        <p:spPr>
          <a:xfrm>
            <a:off x="10152010" y="2849681"/>
            <a:ext cx="583069" cy="578963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2B123122-C4D2-3951-A0D9-7ECD941F42C0}"/>
              </a:ext>
            </a:extLst>
          </p:cNvPr>
          <p:cNvSpPr/>
          <p:nvPr/>
        </p:nvSpPr>
        <p:spPr>
          <a:xfrm>
            <a:off x="10547277" y="2802191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=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D5655C5-17A7-3572-D64D-683CF39418AC}"/>
              </a:ext>
            </a:extLst>
          </p:cNvPr>
          <p:cNvSpPr/>
          <p:nvPr/>
        </p:nvSpPr>
        <p:spPr>
          <a:xfrm>
            <a:off x="10909919" y="2814127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-5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3FAECCE-F903-FECF-31CE-AD388B5CD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7" t="34472" r="22096" b="42602"/>
          <a:stretch>
            <a:fillRect/>
          </a:stretch>
        </p:blipFill>
        <p:spPr>
          <a:xfrm>
            <a:off x="605977" y="2848517"/>
            <a:ext cx="583069" cy="578963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12DBB485-4D82-0E88-0969-32D214ED30F9}"/>
              </a:ext>
            </a:extLst>
          </p:cNvPr>
          <p:cNvSpPr/>
          <p:nvPr/>
        </p:nvSpPr>
        <p:spPr>
          <a:xfrm>
            <a:off x="1001244" y="2801027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=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61BF473-3F26-1F8C-C242-E91C2299BE46}"/>
              </a:ext>
            </a:extLst>
          </p:cNvPr>
          <p:cNvSpPr/>
          <p:nvPr/>
        </p:nvSpPr>
        <p:spPr>
          <a:xfrm>
            <a:off x="1430792" y="2801812"/>
            <a:ext cx="812066" cy="49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+15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852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47C69-A649-C2AB-8987-88D54EE5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B58964-B1C1-A96E-A13D-D871D1447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36"/>
          <a:stretch>
            <a:fillRect/>
          </a:stretch>
        </p:blipFill>
        <p:spPr>
          <a:xfrm>
            <a:off x="4049706" y="1077686"/>
            <a:ext cx="8011459" cy="5506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B271B66-4F4A-3C29-3BCD-6279CA51D36E}"/>
              </a:ext>
            </a:extLst>
          </p:cNvPr>
          <p:cNvSpPr/>
          <p:nvPr/>
        </p:nvSpPr>
        <p:spPr>
          <a:xfrm>
            <a:off x="126888" y="166914"/>
            <a:ext cx="3794195" cy="643444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L" sz="4000" b="1" dirty="0">
                <a:solidFill>
                  <a:schemeClr val="tx1"/>
                </a:solidFill>
              </a:rPr>
              <a:t>Who used MB?</a:t>
            </a:r>
            <a:endParaRPr lang="en-IL" sz="2800" b="1" i="1" dirty="0">
              <a:solidFill>
                <a:schemeClr val="tx1"/>
              </a:solidFill>
            </a:endParaRPr>
          </a:p>
          <a:p>
            <a:pPr algn="ctr"/>
            <a:endParaRPr lang="en-IL" sz="2800" b="1" i="1" dirty="0">
              <a:solidFill>
                <a:schemeClr val="tx1"/>
              </a:solidFill>
            </a:endParaRPr>
          </a:p>
          <a:p>
            <a:pPr algn="ctr"/>
            <a:r>
              <a:rPr lang="en-IL" sz="2800" b="1" i="1" dirty="0">
                <a:solidFill>
                  <a:schemeClr val="tx1"/>
                </a:solidFill>
              </a:rPr>
              <a:t>Model-agnostic</a:t>
            </a:r>
          </a:p>
          <a:p>
            <a:pPr algn="ctr"/>
            <a:r>
              <a:rPr lang="en-IL" sz="2800" i="1" dirty="0">
                <a:solidFill>
                  <a:schemeClr val="tx1"/>
                </a:solidFill>
              </a:rPr>
              <a:t>(&gt;50% queries MB)</a:t>
            </a:r>
          </a:p>
          <a:p>
            <a:pPr algn="ctr"/>
            <a:endParaRPr lang="en-IL" sz="2800" i="1" dirty="0">
              <a:solidFill>
                <a:schemeClr val="tx1"/>
              </a:solidFill>
            </a:endParaRPr>
          </a:p>
          <a:p>
            <a:pPr algn="ctr"/>
            <a:r>
              <a:rPr lang="en-IL" sz="2800" b="1" dirty="0">
                <a:solidFill>
                  <a:schemeClr val="tx1"/>
                </a:solidFill>
              </a:rPr>
              <a:t>Model as </a:t>
            </a:r>
            <a:r>
              <a:rPr lang="en-IL" sz="2800" b="1" i="1" dirty="0">
                <a:solidFill>
                  <a:schemeClr val="tx1"/>
                </a:solidFill>
              </a:rPr>
              <a:t>Random (Payam Piray)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14C236-68B8-5DBC-9A7E-361E96319D06}"/>
              </a:ext>
            </a:extLst>
          </p:cNvPr>
          <p:cNvSpPr/>
          <p:nvPr/>
        </p:nvSpPr>
        <p:spPr>
          <a:xfrm>
            <a:off x="1630462" y="736374"/>
            <a:ext cx="9944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Georgia" pitchFamily="34" charset="0"/>
              </a:rPr>
              <a:t>MF</a:t>
            </a:r>
            <a:endParaRPr lang="en-US" sz="3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D1BAA3-0691-9F43-7B24-A24B12306FFB}"/>
              </a:ext>
            </a:extLst>
          </p:cNvPr>
          <p:cNvSpPr/>
          <p:nvPr/>
        </p:nvSpPr>
        <p:spPr>
          <a:xfrm>
            <a:off x="4985490" y="736374"/>
            <a:ext cx="9944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Georgia" pitchFamily="34" charset="0"/>
              </a:rPr>
              <a:t> MB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17869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79EF-D656-62FC-8888-5BD10B09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FE7A7-9F10-0956-09E7-9274C419E2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39"/>
          <a:stretch>
            <a:fillRect/>
          </a:stretch>
        </p:blipFill>
        <p:spPr>
          <a:xfrm>
            <a:off x="0" y="2480965"/>
            <a:ext cx="12192000" cy="4207440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242FBDE7-688F-54F3-29EC-DBB2ED3B2BE8}"/>
              </a:ext>
            </a:extLst>
          </p:cNvPr>
          <p:cNvSpPr/>
          <p:nvPr/>
        </p:nvSpPr>
        <p:spPr>
          <a:xfrm>
            <a:off x="608506" y="245263"/>
            <a:ext cx="10974988" cy="1322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Worry and overthinking in MB users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(N=158)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6CDE131E-99F4-EC1E-B5ED-C32EE4F5CECC}"/>
              </a:ext>
            </a:extLst>
          </p:cNvPr>
          <p:cNvSpPr/>
          <p:nvPr/>
        </p:nvSpPr>
        <p:spPr>
          <a:xfrm>
            <a:off x="-1676400" y="1978045"/>
            <a:ext cx="9944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deliberation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C8E8518-9E84-8FAC-8086-E220D650D181}"/>
              </a:ext>
            </a:extLst>
          </p:cNvPr>
          <p:cNvSpPr/>
          <p:nvPr/>
        </p:nvSpPr>
        <p:spPr>
          <a:xfrm>
            <a:off x="4610100" y="1978045"/>
            <a:ext cx="9944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accuracy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745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0BCB7-B76D-3997-662E-391865C39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roText">
            <a:extLst>
              <a:ext uri="{FF2B5EF4-FFF2-40B4-BE49-F238E27FC236}">
                <a16:creationId xmlns:a16="http://schemas.microsoft.com/office/drawing/2014/main" id="{B370DECE-1190-B14F-E784-074C4AA67EA2}"/>
              </a:ext>
            </a:extLst>
          </p:cNvPr>
          <p:cNvSpPr/>
          <p:nvPr/>
        </p:nvSpPr>
        <p:spPr>
          <a:xfrm>
            <a:off x="113064" y="105117"/>
            <a:ext cx="11965871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Overthinking  =  z(                          )  −  z(                   )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7B94237-4140-BF28-0791-9AC4D3EF9C45}"/>
              </a:ext>
            </a:extLst>
          </p:cNvPr>
          <p:cNvSpPr/>
          <p:nvPr/>
        </p:nvSpPr>
        <p:spPr>
          <a:xfrm>
            <a:off x="4875548" y="466241"/>
            <a:ext cx="29367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deliberation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A97AF1F-0C4D-4E9E-FC3D-DD95372CF6FC}"/>
              </a:ext>
            </a:extLst>
          </p:cNvPr>
          <p:cNvSpPr/>
          <p:nvPr/>
        </p:nvSpPr>
        <p:spPr>
          <a:xfrm>
            <a:off x="8940938" y="440821"/>
            <a:ext cx="19976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accuracy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FD1275-91AB-2362-9FD0-9F61CC800BD6}"/>
              </a:ext>
            </a:extLst>
          </p:cNvPr>
          <p:cNvGrpSpPr/>
          <p:nvPr/>
        </p:nvGrpSpPr>
        <p:grpSpPr>
          <a:xfrm>
            <a:off x="1760154" y="1358426"/>
            <a:ext cx="8671689" cy="5033333"/>
            <a:chOff x="1593656" y="1383846"/>
            <a:chExt cx="8671689" cy="50333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29B1F16-3798-8B0B-679C-B3BF6C594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6" t="11253"/>
            <a:stretch>
              <a:fillRect/>
            </a:stretch>
          </p:blipFill>
          <p:spPr>
            <a:xfrm>
              <a:off x="1916482" y="1383846"/>
              <a:ext cx="8348863" cy="503333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7E8BB57-C063-B201-856E-9C0E20A6B466}"/>
                </a:ext>
              </a:extLst>
            </p:cNvPr>
            <p:cNvGrpSpPr/>
            <p:nvPr/>
          </p:nvGrpSpPr>
          <p:grpSpPr>
            <a:xfrm>
              <a:off x="1593656" y="2805706"/>
              <a:ext cx="322826" cy="2189612"/>
              <a:chOff x="677064" y="1856181"/>
              <a:chExt cx="322826" cy="2189612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1798E2B5-59B3-9742-BBC0-62681CB7C4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318" r="96259"/>
              <a:stretch>
                <a:fillRect/>
              </a:stretch>
            </p:blipFill>
            <p:spPr>
              <a:xfrm>
                <a:off x="677064" y="2589234"/>
                <a:ext cx="322826" cy="1456559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AD18E8F-28BD-E811-59AC-5FEF22CAD3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749" r="96634" b="71326"/>
              <a:stretch>
                <a:fillRect/>
              </a:stretch>
            </p:blipFill>
            <p:spPr>
              <a:xfrm>
                <a:off x="693243" y="1856181"/>
                <a:ext cx="290468" cy="733053"/>
              </a:xfrm>
              <a:prstGeom prst="rect">
                <a:avLst/>
              </a:prstGeom>
            </p:spPr>
          </p:pic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06B4EF50-E35D-B4DC-8EA4-2DB840656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0" y="1606617"/>
            <a:ext cx="1611647" cy="3505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B8D6F3-4F09-4ADF-689A-69B8F8C78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3" t="16188" r="52008" b="77631"/>
          <a:stretch>
            <a:fillRect/>
          </a:stretch>
        </p:blipFill>
        <p:spPr>
          <a:xfrm>
            <a:off x="4498461" y="1632017"/>
            <a:ext cx="990600" cy="3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60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28887-33BC-4AF9-40D6-F2EF4012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A09E55-F579-048C-0F81-217BC6F3112A}"/>
              </a:ext>
            </a:extLst>
          </p:cNvPr>
          <p:cNvSpPr txBox="1"/>
          <p:nvPr/>
        </p:nvSpPr>
        <p:spPr>
          <a:xfrm>
            <a:off x="862097" y="2098935"/>
            <a:ext cx="104678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4F1E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Replicated Twice</a:t>
            </a:r>
            <a:endParaRPr kumimoji="0" lang="LID4096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AF2EB19C-7CAD-AE4C-9034-60F1343AA1B3}"/>
              </a:ext>
            </a:extLst>
          </p:cNvPr>
          <p:cNvSpPr/>
          <p:nvPr/>
        </p:nvSpPr>
        <p:spPr>
          <a:xfrm>
            <a:off x="3124200" y="3622163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N=139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N=277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96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B206B-A2E5-E2CA-3CFB-22E81E40A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2F4471-4F6A-6EA6-BCB9-7CCB058341EB}"/>
              </a:ext>
            </a:extLst>
          </p:cNvPr>
          <p:cNvSpPr txBox="1"/>
          <p:nvPr/>
        </p:nvSpPr>
        <p:spPr>
          <a:xfrm>
            <a:off x="862097" y="391277"/>
            <a:ext cx="104678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4F1E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How to model internal processing?</a:t>
            </a:r>
            <a:endParaRPr kumimoji="0" lang="LID4096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EA08A-2278-09DC-0467-CBD662E5DD95}"/>
              </a:ext>
            </a:extLst>
          </p:cNvPr>
          <p:cNvSpPr txBox="1"/>
          <p:nvPr/>
        </p:nvSpPr>
        <p:spPr>
          <a:xfrm>
            <a:off x="2878977" y="1852747"/>
            <a:ext cx="6434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⬆️ B</a:t>
            </a:r>
            <a:r>
              <a:rPr kumimoji="0" lang="en-I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oundary </a:t>
            </a:r>
            <a:r>
              <a:rPr kumimoji="0" lang="en-IL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⬆️ </a:t>
            </a:r>
            <a:r>
              <a:rPr kumimoji="0" lang="en-I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Accuracy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6E856-20F9-625D-BD74-1477814BA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27"/>
          <a:stretch>
            <a:fillRect/>
          </a:stretch>
        </p:blipFill>
        <p:spPr>
          <a:xfrm>
            <a:off x="3179427" y="2437522"/>
            <a:ext cx="5833145" cy="364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12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61F6DA-49C9-6602-65B6-F2E4D3828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78" y="2539854"/>
            <a:ext cx="7233896" cy="409512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F668955-34E1-FAED-C883-53AFE5E67A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925" y="223025"/>
            <a:ext cx="9676149" cy="2167054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7D9B4D61-22A8-7BCA-5BFB-96C651C1CED3}"/>
              </a:ext>
            </a:extLst>
          </p:cNvPr>
          <p:cNvSpPr/>
          <p:nvPr/>
        </p:nvSpPr>
        <p:spPr>
          <a:xfrm>
            <a:off x="5558883" y="2230244"/>
            <a:ext cx="189570" cy="468351"/>
          </a:xfrm>
          <a:prstGeom prst="downArrow">
            <a:avLst/>
          </a:prstGeom>
          <a:solidFill>
            <a:srgbClr val="C77F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3929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7D6D6-8313-9A09-E48F-303888D67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92C51-B183-1ACD-A1F7-217C213D6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708" y="4098838"/>
            <a:ext cx="2382583" cy="2382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4A6C83-501B-D86D-FB85-ED32A269B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6289" y="4098838"/>
            <a:ext cx="2382583" cy="2382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B01436-8A16-A9A6-0DAD-9AB80F833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7" y="4098837"/>
            <a:ext cx="2382583" cy="2382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F6F80C-3EFE-9CBA-3A81-3D40A23D0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7289" y="3598886"/>
            <a:ext cx="1257417" cy="30696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E11BD63-651C-7C21-7666-0730A0E1EC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594" y="3598886"/>
            <a:ext cx="1055648" cy="3558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FA7493-2D55-38F5-D2D4-6965985F08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7908" y="3640887"/>
            <a:ext cx="1739343" cy="271834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DF90B49A-EEDB-D1D7-66D3-9775F98EF30D}"/>
              </a:ext>
            </a:extLst>
          </p:cNvPr>
          <p:cNvSpPr/>
          <p:nvPr/>
        </p:nvSpPr>
        <p:spPr>
          <a:xfrm>
            <a:off x="3124198" y="376579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4F1E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5AB2568-BC4C-04E5-6538-AC60873392CB}"/>
              </a:ext>
            </a:extLst>
          </p:cNvPr>
          <p:cNvSpPr/>
          <p:nvPr/>
        </p:nvSpPr>
        <p:spPr>
          <a:xfrm>
            <a:off x="3124197" y="20563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Poster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A51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8A33D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15:30 – 17:30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698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</TotalTime>
  <Words>876</Words>
  <Application>Microsoft Office PowerPoint</Application>
  <PresentationFormat>Widescreen</PresentationFormat>
  <Paragraphs>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Georgia</vt:lpstr>
      <vt:lpstr>Open Sans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 pizanti</dc:creator>
  <cp:lastModifiedBy>adi pizanti</cp:lastModifiedBy>
  <cp:revision>11</cp:revision>
  <dcterms:created xsi:type="dcterms:W3CDTF">2026-06-27T11:53:15Z</dcterms:created>
  <dcterms:modified xsi:type="dcterms:W3CDTF">2026-07-08T04:56:50Z</dcterms:modified>
</cp:coreProperties>
</file>